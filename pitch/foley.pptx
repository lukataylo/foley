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2865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A7A80"/>
                </a:solidFill>
                <a:latin typeface="SF Mono"/>
              </a:rPr>
              <a:t>01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A7A80"/>
                </a:solidFill>
                <a:latin typeface="SF Mono"/>
              </a:rPr>
              <a:t>FOLEY · UNICORN MAFIA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471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0" b="1">
                <a:solidFill>
                  <a:srgbClr val="FAFAFA"/>
                </a:solidFill>
                <a:latin typeface="SF Pro Display"/>
              </a:rPr>
              <a:t>Foley.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7A7A80"/>
                </a:solidFill>
                <a:latin typeface="SF Pro Display"/>
              </a:rPr>
              <a:t>Video as a build artifact.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2865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A7A80"/>
                </a:solidFill>
                <a:latin typeface="SF Mono"/>
              </a:rPr>
              <a:t>02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A7A80"/>
                </a:solidFill>
                <a:latin typeface="SF Mono"/>
              </a:rPr>
              <a:t>FOLEY · UNICORN MAFIA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B94A"/>
                </a:solidFill>
                <a:latin typeface="SF Mono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327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FAFAFA"/>
                </a:solidFill>
                <a:latin typeface="SF Pro Display"/>
              </a:rPr>
              <a:t>Every product walkthrough goes stale the moment you ship.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2865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A7A80"/>
                </a:solidFill>
                <a:latin typeface="SF Mono"/>
              </a:rPr>
              <a:t>03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A7A80"/>
                </a:solidFill>
                <a:latin typeface="SF Mono"/>
              </a:rPr>
              <a:t>FOLEY · UNICORN MAFIA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B94A"/>
                </a:solidFill>
                <a:latin typeface="SF Mono"/>
              </a:rPr>
              <a:t>WHAT IT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327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>
                <a:solidFill>
                  <a:srgbClr val="FAFAFA"/>
                </a:solidFill>
                <a:latin typeface="SF Pro Display"/>
              </a:rPr>
              <a:t>Foley rebuilds your walkthrough video from the codebase — every PR.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2865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A7A80"/>
                </a:solidFill>
                <a:latin typeface="SF Mono"/>
              </a:rPr>
              <a:t>04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A7A80"/>
                </a:solidFill>
                <a:latin typeface="SF Mono"/>
              </a:rPr>
              <a:t>FOLEY · UNICORN MAFIA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B94A"/>
                </a:solidFill>
                <a:latin typeface="SF Mono"/>
              </a:rPr>
              <a:t>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112471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0" b="1">
                <a:solidFill>
                  <a:srgbClr val="FAFAFA"/>
                </a:solidFill>
                <a:latin typeface="SF Pro Display"/>
              </a:rPr>
              <a:t>Demo.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A7A80"/>
                </a:solidFill>
                <a:latin typeface="SF Pro Display"/>
              </a:rPr>
              <a:t>PR opens · video updates · we cut it in the editor · we publish.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2865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A7A80"/>
                </a:solidFill>
                <a:latin typeface="SF Mono"/>
              </a:rPr>
              <a:t>05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A7A80"/>
                </a:solidFill>
                <a:latin typeface="SF Mono"/>
              </a:rPr>
              <a:t>FOLEY · UNICORN MAFIA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B94A"/>
                </a:solidFill>
                <a:latin typeface="SF Mono"/>
              </a:rPr>
              <a:t>WHAT'S IN THE BOX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3381146" cy="2276856"/>
          </a:xfrm>
          <a:prstGeom prst="roundRect">
            <a:avLst>
              <a:gd name="adj" fmla="val 6000"/>
            </a:avLst>
          </a:prstGeom>
          <a:solidFill>
            <a:srgbClr val="18181A"/>
          </a:solidFill>
          <a:ln w="9525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874520"/>
            <a:ext cx="246674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FAFAFA"/>
                </a:solidFill>
                <a:latin typeface="SF Pro Display"/>
              </a:rPr>
              <a:t>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834640"/>
            <a:ext cx="246674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AFAFA"/>
                </a:solidFill>
                <a:latin typeface="SF Pro Display"/>
              </a:rPr>
              <a:t>Auto-capture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337560"/>
            <a:ext cx="246674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7A80"/>
                </a:solidFill>
                <a:latin typeface="SF Pro Display"/>
              </a:rPr>
              <a:t>Playwright records every step on every PR.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5274" y="1554480"/>
            <a:ext cx="3381146" cy="2276856"/>
          </a:xfrm>
          <a:prstGeom prst="roundRect">
            <a:avLst>
              <a:gd name="adj" fmla="val 6000"/>
            </a:avLst>
          </a:prstGeom>
          <a:solidFill>
            <a:srgbClr val="18181A"/>
          </a:solidFill>
          <a:ln w="9525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62474" y="1874520"/>
            <a:ext cx="246674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FAFAFA"/>
                </a:solidFill>
                <a:latin typeface="SF Pro Display"/>
              </a:rPr>
              <a:t>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2474" y="2834640"/>
            <a:ext cx="246674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AFAFA"/>
                </a:solidFill>
                <a:latin typeface="SF Pro Display"/>
              </a:rPr>
              <a:t>AI narration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2474" y="3337560"/>
            <a:ext cx="246674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7A80"/>
                </a:solidFill>
                <a:latin typeface="SF Pro Display"/>
              </a:rPr>
              <a:t>ElevenLabs reads the script in your brand voice.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87588" y="1554480"/>
            <a:ext cx="3381146" cy="2276856"/>
          </a:xfrm>
          <a:prstGeom prst="roundRect">
            <a:avLst>
              <a:gd name="adj" fmla="val 6000"/>
            </a:avLst>
          </a:prstGeom>
          <a:solidFill>
            <a:srgbClr val="18181A"/>
          </a:solidFill>
          <a:ln w="9525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4788" y="1874520"/>
            <a:ext cx="246674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FAFAFA"/>
                </a:solidFill>
                <a:latin typeface="SF Pro Display"/>
              </a:rPr>
              <a:t>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4788" y="2834640"/>
            <a:ext cx="246674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AFAFA"/>
                </a:solidFill>
                <a:latin typeface="SF Pro Display"/>
              </a:rPr>
              <a:t>Music beds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4788" y="3337560"/>
            <a:ext cx="246674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7A80"/>
                </a:solidFill>
                <a:latin typeface="SF Pro Display"/>
              </a:rPr>
              <a:t>Generated to fit length and tone — no licensing.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032504"/>
            <a:ext cx="3381146" cy="2276856"/>
          </a:xfrm>
          <a:prstGeom prst="roundRect">
            <a:avLst>
              <a:gd name="adj" fmla="val 6000"/>
            </a:avLst>
          </a:prstGeom>
          <a:solidFill>
            <a:srgbClr val="18181A"/>
          </a:solidFill>
          <a:ln w="9525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352544"/>
            <a:ext cx="246674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FAFAFA"/>
                </a:solidFill>
                <a:latin typeface="SF Pro Display"/>
              </a:rPr>
              <a:t>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312664"/>
            <a:ext cx="246674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AFAFA"/>
                </a:solidFill>
                <a:latin typeface="SF Pro Display"/>
              </a:rPr>
              <a:t>Title cards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815584"/>
            <a:ext cx="246674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7A80"/>
                </a:solidFill>
                <a:latin typeface="SF Pro Display"/>
              </a:rPr>
              <a:t>Aurora gradient + screenshots + typed text.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5274" y="4032504"/>
            <a:ext cx="3381146" cy="2276856"/>
          </a:xfrm>
          <a:prstGeom prst="roundRect">
            <a:avLst>
              <a:gd name="adj" fmla="val 6000"/>
            </a:avLst>
          </a:prstGeom>
          <a:solidFill>
            <a:srgbClr val="18181A"/>
          </a:solidFill>
          <a:ln w="9525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62474" y="4352544"/>
            <a:ext cx="246674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FAFAFA"/>
                </a:solidFill>
                <a:latin typeface="SF Pro Display"/>
              </a:rPr>
              <a:t>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2474" y="5312664"/>
            <a:ext cx="246674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AFAFA"/>
                </a:solidFill>
                <a:latin typeface="SF Pro Display"/>
              </a:rPr>
              <a:t>Nano Banana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2474" y="5815584"/>
            <a:ext cx="246674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7A80"/>
                </a:solidFill>
                <a:latin typeface="SF Pro Display"/>
              </a:rPr>
              <a:t>Gemini composes mockups from real frames.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87588" y="4032504"/>
            <a:ext cx="3381146" cy="2276856"/>
          </a:xfrm>
          <a:prstGeom prst="roundRect">
            <a:avLst>
              <a:gd name="adj" fmla="val 6000"/>
            </a:avLst>
          </a:prstGeom>
          <a:solidFill>
            <a:srgbClr val="18181A"/>
          </a:solidFill>
          <a:ln w="9525">
            <a:solidFill>
              <a:srgbClr val="222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44788" y="4352544"/>
            <a:ext cx="246674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FAFAFA"/>
                </a:solidFill>
                <a:latin typeface="SF Pro Display"/>
              </a:rPr>
              <a:t>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4788" y="5312664"/>
            <a:ext cx="246674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AFAFA"/>
                </a:solidFill>
                <a:latin typeface="SF Pro Display"/>
              </a:rPr>
              <a:t>Multi-format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44788" y="5815584"/>
            <a:ext cx="246674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A7A80"/>
                </a:solidFill>
                <a:latin typeface="SF Pro Display"/>
              </a:rPr>
              <a:t>MP4, WebM, GIF, MP3, project bundle.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2865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A7A80"/>
                </a:solidFill>
                <a:latin typeface="SF Mono"/>
              </a:rPr>
              <a:t>06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A7A80"/>
                </a:solidFill>
                <a:latin typeface="SF Mono"/>
              </a:rPr>
              <a:t>FOLEY · UNICORN MAFIA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B94A"/>
                </a:solidFill>
                <a:latin typeface="SF Mono"/>
              </a:rPr>
              <a:t>BUILT IN 26H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A7A80"/>
                </a:solidFill>
                <a:latin typeface="SF Mono"/>
              </a:rPr>
              <a:t>EXISTING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</a:pPr>
            <a:r>
              <a:rPr sz="2200" b="0">
                <a:solidFill>
                  <a:srgbClr val="7A7A80"/>
                </a:solidFill>
                <a:latin typeface="SF Pro Display"/>
              </a:rPr>
              <a:t>Director agent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</a:pPr>
            <a:r>
              <a:rPr sz="2200" b="0">
                <a:solidFill>
                  <a:srgbClr val="7A7A80"/>
                </a:solidFill>
                <a:latin typeface="SF Pro Display"/>
              </a:rPr>
              <a:t>Playwright capture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</a:pPr>
            <a:r>
              <a:rPr sz="2200" b="0">
                <a:solidFill>
                  <a:srgbClr val="7A7A80"/>
                </a:solidFill>
                <a:latin typeface="SF Pro Display"/>
              </a:rPr>
              <a:t>Walkthrough YAML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</a:pPr>
            <a:r>
              <a:rPr sz="2200" b="0">
                <a:solidFill>
                  <a:srgbClr val="7A7A80"/>
                </a:solidFill>
                <a:latin typeface="SF Pro Display"/>
              </a:rPr>
              <a:t>Continuous narration synth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</a:pPr>
            <a:r>
              <a:rPr sz="2200" b="0">
                <a:solidFill>
                  <a:srgbClr val="7A7A80"/>
                </a:solidFill>
                <a:latin typeface="SF Pro Display"/>
              </a:rPr>
              <a:t>Editor scaffolding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5B94A"/>
                </a:solidFill>
                <a:latin typeface="SF Mono"/>
              </a:rPr>
              <a:t>NEW IN 26H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</a:pPr>
            <a:r>
              <a:rPr sz="2200" b="0">
                <a:solidFill>
                  <a:srgbClr val="FAFAFA"/>
                </a:solidFill>
                <a:latin typeface="SF Pro Display"/>
              </a:rPr>
              <a:t>Title cards composited into export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</a:pPr>
            <a:r>
              <a:rPr sz="2200" b="0">
                <a:solidFill>
                  <a:srgbClr val="FAFAFA"/>
                </a:solidFill>
                <a:latin typeface="SF Pro Display"/>
              </a:rPr>
              <a:t>Multi-format export (MP4 · WebM · GIF · MP3)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</a:pPr>
            <a:r>
              <a:rPr sz="2200" b="0">
                <a:solidFill>
                  <a:srgbClr val="FAFAFA"/>
                </a:solidFill>
                <a:latin typeface="SF Pro Display"/>
              </a:rPr>
              <a:t>Multi-select · split · duplicate · search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</a:pPr>
            <a:r>
              <a:rPr sz="2200" b="0">
                <a:solidFill>
                  <a:srgbClr val="FAFAFA"/>
                </a:solidFill>
                <a:latin typeface="SF Pro Display"/>
              </a:rPr>
              <a:t>Project bundle · YAML-aware undo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</a:pPr>
            <a:r>
              <a:rPr sz="2200" b="0">
                <a:solidFill>
                  <a:srgbClr val="FAFAFA"/>
                </a:solidFill>
                <a:latin typeface="SF Pro Display"/>
              </a:rPr>
              <a:t>20-fix polish + crash hardening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2865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A7A80"/>
                </a:solidFill>
                <a:latin typeface="SF Mono"/>
              </a:rPr>
              <a:t>07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A7A80"/>
                </a:solidFill>
                <a:latin typeface="SF Mono"/>
              </a:rPr>
              <a:t>FOLEY · UNICORN MAFIA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5B94A"/>
                </a:solidFill>
                <a:latin typeface="SF Mono"/>
              </a:rPr>
              <a:t>WHO · WHY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327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FAFAFA"/>
                </a:solidFill>
                <a:latin typeface="SF Pro Display"/>
              </a:rPr>
              <a:t>For dev tools that ship daily — AI is finally good enough to narrate, mix, and composite without 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28655" y="3200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A7A80"/>
                </a:solidFill>
                <a:latin typeface="SF Mono"/>
              </a:rPr>
              <a:t>08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A7A80"/>
                </a:solidFill>
                <a:latin typeface="SF Mono"/>
              </a:rPr>
              <a:t>FOLEY · UNICORN MAFIA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FAFAFA"/>
                </a:solidFill>
                <a:latin typeface="SF Pro Display"/>
              </a:rPr>
              <a:t>Your video stays current.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F5B94A"/>
                </a:solidFill>
                <a:latin typeface="SF Mono"/>
              </a:rPr>
              <a:t>github.com/lukataylo/Foley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